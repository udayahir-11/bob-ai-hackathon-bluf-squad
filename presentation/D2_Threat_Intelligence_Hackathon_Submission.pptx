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9436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9164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8892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8620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8348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8076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7804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532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7260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69880" y="182880"/>
            <a:ext cx="502920" cy="22860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078992"/>
            <a:ext cx="73152" cy="4434840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960120"/>
            <a:ext cx="22860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4D8FD6"/>
                </a:solidFill>
                <a:latin typeface="Aptos"/>
              </a:rPr>
              <a:t>D2  |  HACKATHON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417320"/>
            <a:ext cx="9966960" cy="11430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400" b="1">
                <a:solidFill>
                  <a:srgbClr val="EFF4F9"/>
                </a:solidFill>
                <a:latin typeface="Aptos"/>
              </a:rPr>
              <a:t>Threat Intelligence
Correlation &amp; Alert Prioritisation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788920"/>
            <a:ext cx="89611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4CBED2"/>
                </a:solidFill>
                <a:latin typeface="Aptos"/>
              </a:rPr>
              <a:t>From alert overload → correlated threats → commander-ready BLUF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703320"/>
            <a:ext cx="6162456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dirty="0">
                <a:solidFill>
                  <a:srgbClr val="97A6B7"/>
                </a:solidFill>
                <a:latin typeface="Aptos"/>
              </a:rPr>
              <a:t>A focused SOC / </a:t>
            </a:r>
            <a:r>
              <a:rPr sz="1450" b="0" dirty="0" err="1">
                <a:solidFill>
                  <a:srgbClr val="97A6B7"/>
                </a:solidFill>
                <a:latin typeface="Aptos"/>
              </a:rPr>
              <a:t>defence</a:t>
            </a:r>
            <a:r>
              <a:rPr sz="1450" b="0" dirty="0">
                <a:solidFill>
                  <a:srgbClr val="97A6B7"/>
                </a:solidFill>
                <a:latin typeface="Aptos"/>
              </a:rPr>
              <a:t> analyst copilot that turns noisy multi-source alerts </a:t>
            </a:r>
            <a:endParaRPr lang="en-US" sz="14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450" b="0" dirty="0">
                <a:solidFill>
                  <a:srgbClr val="97A6B7"/>
                </a:solidFill>
                <a:latin typeface="Aptos"/>
              </a:rPr>
              <a:t>into </a:t>
            </a:r>
            <a:r>
              <a:rPr sz="1450" b="0" dirty="0" err="1">
                <a:solidFill>
                  <a:srgbClr val="97A6B7"/>
                </a:solidFill>
                <a:latin typeface="Aptos"/>
              </a:rPr>
              <a:t>prioritised</a:t>
            </a:r>
            <a:r>
              <a:rPr sz="1450" b="0" dirty="0">
                <a:solidFill>
                  <a:srgbClr val="97A6B7"/>
                </a:solidFill>
                <a:latin typeface="Aptos"/>
              </a:rPr>
              <a:t>, explainable incidents.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611880"/>
            <a:ext cx="3611880" cy="141732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09560" y="3858768"/>
            <a:ext cx="960120" cy="310896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3858768"/>
            <a:ext cx="96012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813048"/>
            <a:ext cx="1874519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97A6B7"/>
                </a:solidFill>
                <a:latin typeface="Aptos"/>
              </a:rPr>
              <a:t>INC-001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270248"/>
            <a:ext cx="28803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FF4F9"/>
                </a:solidFill>
                <a:latin typeface="Aptos"/>
              </a:rPr>
              <a:t>3 sources corroborated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617720"/>
            <a:ext cx="28803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97A6B7"/>
                </a:solidFill>
                <a:latin typeface="Aptos"/>
              </a:rPr>
              <a:t>MITRE ATT&amp;CK  •  BLUF  • 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6080760"/>
            <a:ext cx="6400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97A6B7"/>
                </a:solidFill>
                <a:latin typeface="Aptos"/>
              </a:rPr>
              <a:t>Prototype stack: HTML + CSS + Vanilla JavaScript · Runs locally in 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062472"/>
            <a:ext cx="29260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50" b="1">
                <a:solidFill>
                  <a:srgbClr val="E8A33D"/>
                </a:solidFill>
                <a:latin typeface="Aptos"/>
              </a:rPr>
              <a:t>SUBMISSION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97A6B7"/>
                </a:solidFill>
                <a:latin typeface="Aptos"/>
              </a:rPr>
              <a:t>D2 · Threat Intelligence Correlation &amp; Alert Prioritisation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97A6B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01 ·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EFF4F9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8813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97A6B7"/>
                </a:solidFill>
                <a:latin typeface="Aptos"/>
              </a:rPr>
              <a:t>Defence analysts face an alert-volume and decision-speed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"/>
            <a:ext cx="502920" cy="41148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806440" cy="105156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0292" cy="105156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5440679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Alert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48840"/>
            <a:ext cx="4316246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dirty="0">
                <a:solidFill>
                  <a:srgbClr val="97A6B7"/>
                </a:solidFill>
                <a:latin typeface="Aptos"/>
              </a:rPr>
              <a:t>Thousands of alerts arrive from SIEM systems, satellite feeds, </a:t>
            </a:r>
            <a:endParaRPr lang="en-US" sz="12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97A6B7"/>
                </a:solidFill>
                <a:latin typeface="Aptos"/>
              </a:rPr>
              <a:t>cyber sensors and intelligence reports — in different formats.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806440" cy="105156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0292" cy="10515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2953512"/>
            <a:ext cx="5440679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The real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337560"/>
            <a:ext cx="4850751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dirty="0">
                <a:solidFill>
                  <a:srgbClr val="97A6B7"/>
                </a:solidFill>
                <a:latin typeface="Aptos"/>
              </a:rPr>
              <a:t>Human teams cannot read everything. Missing one genuine threat </a:t>
            </a:r>
            <a:endParaRPr lang="en-US" sz="12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97A6B7"/>
                </a:solidFill>
                <a:latin typeface="Aptos"/>
              </a:rPr>
              <a:t>can be catastrophic, while false positives consume critical resources.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5806440" cy="105156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50292" cy="1051560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4142231"/>
            <a:ext cx="5440679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Commander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26279"/>
            <a:ext cx="4980722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dirty="0">
                <a:solidFill>
                  <a:srgbClr val="97A6B7"/>
                </a:solidFill>
                <a:latin typeface="Aptos"/>
              </a:rPr>
              <a:t>Threat assessments must be structured in BLUF (Bottom Line Up Front) </a:t>
            </a:r>
            <a:endParaRPr lang="en-US" sz="12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97A6B7"/>
                </a:solidFill>
                <a:latin typeface="Aptos"/>
              </a:rPr>
              <a:t>so commanders can understand the situation in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881360" cy="658368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486400"/>
            <a:ext cx="1004794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dirty="0">
                <a:solidFill>
                  <a:srgbClr val="E8A33D"/>
                </a:solidFill>
                <a:latin typeface="Aptos"/>
              </a:rPr>
              <a:t>Challenge outcome: </a:t>
            </a:r>
            <a:r>
              <a:rPr sz="1150" b="0" dirty="0">
                <a:solidFill>
                  <a:srgbClr val="EFF4F9"/>
                </a:solidFill>
                <a:latin typeface="Aptos"/>
              </a:rPr>
              <a:t>correlate multi-source feeds, separate genuine threats from false positives, map attacker techniques to MITRE ATT&amp;CK, and generate </a:t>
            </a:r>
            <a:endParaRPr lang="en-US" sz="1150" b="0" dirty="0">
              <a:solidFill>
                <a:srgbClr val="EFF4F9"/>
              </a:solidFill>
              <a:latin typeface="Aptos"/>
            </a:endParaRPr>
          </a:p>
          <a:p>
            <a:pPr algn="l"/>
            <a:r>
              <a:rPr sz="1150" b="0" dirty="0" err="1">
                <a:solidFill>
                  <a:srgbClr val="EFF4F9"/>
                </a:solidFill>
                <a:latin typeface="Aptos"/>
              </a:rPr>
              <a:t>prioritised</a:t>
            </a:r>
            <a:r>
              <a:rPr sz="1150" b="0" dirty="0">
                <a:solidFill>
                  <a:srgbClr val="EFF4F9"/>
                </a:solidFill>
                <a:latin typeface="Aptos"/>
              </a:rPr>
              <a:t> BLUF summaries.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97A6B7"/>
                </a:solidFill>
                <a:latin typeface="Aptos"/>
              </a:rPr>
              <a:t>D2 · Threat Intelligence Correlation &amp; Alert Prioritisation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97A6B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02 ·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EFF4F9"/>
                </a:solidFill>
                <a:latin typeface="Aptos"/>
              </a:rPr>
              <a:t>One analyst workflow, five intelligence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8813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97A6B7"/>
                </a:solidFill>
                <a:latin typeface="Aptos"/>
              </a:rPr>
              <a:t>The prototype is designed around one job: correlate, prioritise, explain and brief.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"/>
            <a:ext cx="502920" cy="41148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901952" cy="214884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993392"/>
            <a:ext cx="384048" cy="310896"/>
          </a:xfrm>
          <a:prstGeom prst="round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993392"/>
            <a:ext cx="38404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41448"/>
            <a:ext cx="157276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FF4F9"/>
                </a:solidFill>
                <a:latin typeface="Aptos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07792"/>
            <a:ext cx="1572768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97A6B7"/>
                </a:solidFill>
                <a:latin typeface="Aptos"/>
              </a:rPr>
              <a:t>SIEM
Cyber sensors
Satellite / EW
Intel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670048"/>
            <a:ext cx="329184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97A6B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828800"/>
            <a:ext cx="1901952" cy="214884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26664" y="1993392"/>
            <a:ext cx="384048" cy="310896"/>
          </a:xfrm>
          <a:prstGeom prst="roundRect">
            <a:avLst/>
          </a:prstGeom>
          <a:solidFill>
            <a:srgbClr val="4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6664" y="1993392"/>
            <a:ext cx="38404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441448"/>
            <a:ext cx="157276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FF4F9"/>
                </a:solidFill>
                <a:latin typeface="Aptos"/>
              </a:rPr>
              <a:t>CORRELATE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2907792"/>
            <a:ext cx="1572768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97A6B7"/>
                </a:solidFill>
                <a:latin typeface="Aptos"/>
              </a:rPr>
              <a:t>Same asset / indicator
within 120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670048"/>
            <a:ext cx="329184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97A6B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9784" y="1828800"/>
            <a:ext cx="1901952" cy="214884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94376" y="1993392"/>
            <a:ext cx="384048" cy="310896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94376" y="1993392"/>
            <a:ext cx="38404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441448"/>
            <a:ext cx="157276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FF4F9"/>
                </a:solidFill>
                <a:latin typeface="Aptos"/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2907792"/>
            <a:ext cx="1572768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97A6B7"/>
                </a:solidFill>
                <a:latin typeface="Aptos"/>
              </a:rPr>
              <a:t>Severity +
corroboration + intel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2670048"/>
            <a:ext cx="329184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97A6B7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496" y="1828800"/>
            <a:ext cx="1901952" cy="214884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62088" y="1993392"/>
            <a:ext cx="384048" cy="310896"/>
          </a:xfrm>
          <a:prstGeom prst="round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993392"/>
            <a:ext cx="38404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441448"/>
            <a:ext cx="157276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FF4F9"/>
                </a:solidFill>
                <a:latin typeface="Aptos"/>
              </a:rPr>
              <a:t>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2907792"/>
            <a:ext cx="1572768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97A6B7"/>
                </a:solidFill>
                <a:latin typeface="Aptos"/>
              </a:rPr>
              <a:t>MITRE ATT&amp;CK
+ EW 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670048"/>
            <a:ext cx="329184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97A6B7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5208" y="1828800"/>
            <a:ext cx="1901952" cy="214884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29800" y="1993392"/>
            <a:ext cx="384048" cy="310896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29800" y="1993392"/>
            <a:ext cx="38404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441448"/>
            <a:ext cx="157276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FF4F9"/>
                </a:solidFill>
                <a:latin typeface="Aptos"/>
              </a:rPr>
              <a:t>BRIEF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2907792"/>
            <a:ext cx="1572768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97A6B7"/>
                </a:solidFill>
                <a:latin typeface="Aptos"/>
              </a:rPr>
              <a:t>BLUF + evidence
+ recommended 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34840"/>
            <a:ext cx="3520440" cy="114300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4434840"/>
            <a:ext cx="50292" cy="1143000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" y="4599431"/>
            <a:ext cx="315468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Explainable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4983479"/>
            <a:ext cx="3374450" cy="4278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Every priority decision can be traced to source</a:t>
            </a:r>
            <a:endParaRPr lang="en-US" sz="11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 count, severity, indicator intelligence and evidence.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434840"/>
            <a:ext cx="3520440" cy="114300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43400" y="4434840"/>
            <a:ext cx="50292" cy="1143000"/>
          </a:xfrm>
          <a:prstGeom prst="rect">
            <a:avLst/>
          </a:prstGeom>
          <a:solidFill>
            <a:srgbClr val="4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44568" y="4599431"/>
            <a:ext cx="315468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Fast for commanders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4983479"/>
            <a:ext cx="3223768" cy="4278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BLUF puts the bottom line and action first instead</a:t>
            </a:r>
            <a:endParaRPr lang="en-US" sz="11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 of forcing the reader through raw alerts.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4434840"/>
            <a:ext cx="3520440" cy="114300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46720" y="4434840"/>
            <a:ext cx="50292" cy="114300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47888" y="4599431"/>
            <a:ext cx="315468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Noise-aware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4983479"/>
            <a:ext cx="3172472" cy="60478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Low-severity, isolated and allow-listed activity is </a:t>
            </a:r>
            <a:endParaRPr lang="en-US" sz="11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filtered toward false positive instead of flooding </a:t>
            </a:r>
            <a:endParaRPr lang="en-US" sz="11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the queue.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97A6B7"/>
                </a:solidFill>
                <a:latin typeface="Aptos"/>
              </a:rPr>
              <a:t>D2 · Threat Intelligence Correlation &amp; Alert Prioritisation Assistant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97A6B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03 ·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EFF4F9"/>
                </a:solidFill>
                <a:latin typeface="Aptos"/>
              </a:rPr>
              <a:t>How the prototype decides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8813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97A6B7"/>
                </a:solidFill>
                <a:latin typeface="Aptos"/>
              </a:rPr>
              <a:t>A transparent scoring model makes the demo easy to inspect, tune and defend.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"/>
            <a:ext cx="502920" cy="41148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4754880" cy="438912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206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D8FD6"/>
                </a:solidFill>
                <a:latin typeface="Aptos"/>
              </a:rPr>
              <a:t>PRIORITY SCORE  |  0–100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4114800" cy="8686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EFF4F9"/>
                </a:solidFill>
                <a:latin typeface="Aptos"/>
              </a:rPr>
              <a:t>Severity × 6
+ source corroboration × 14
+ known-bad indicator ×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406908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97A6B7"/>
                </a:solidFill>
                <a:latin typeface="Aptos"/>
              </a:rPr>
              <a:t>False positives are capped at 25.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069080"/>
            <a:ext cx="1143000" cy="310896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114300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≥ 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069080"/>
            <a:ext cx="24688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EFF4F9"/>
                </a:solidFill>
                <a:latin typeface="Aptos"/>
              </a:rPr>
              <a:t>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26280"/>
            <a:ext cx="1143000" cy="310896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14300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55–74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526280"/>
            <a:ext cx="24688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EFF4F9"/>
                </a:solidFill>
                <a:latin typeface="Aptos"/>
              </a:rPr>
              <a:t>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83480"/>
            <a:ext cx="1143000" cy="310896"/>
          </a:xfrm>
          <a:prstGeom prst="round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14300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35–54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983480"/>
            <a:ext cx="24688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EFF4F9"/>
                </a:solidFill>
                <a:latin typeface="Aptos"/>
              </a:rPr>
              <a:t>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440680"/>
            <a:ext cx="1143000" cy="310896"/>
          </a:xfrm>
          <a:prstGeom prst="round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14300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&lt; 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440680"/>
            <a:ext cx="24688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EFF4F9"/>
                </a:solidFill>
                <a:latin typeface="Aptos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1783080"/>
            <a:ext cx="56692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4D8FD6"/>
                </a:solidFill>
                <a:latin typeface="Aptos"/>
              </a:rPr>
              <a:t>CLASSIFICATION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2240280"/>
            <a:ext cx="5440680" cy="621792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25312" y="2350008"/>
            <a:ext cx="379476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EFF4F9"/>
                </a:solidFill>
                <a:latin typeface="Aptos"/>
              </a:rPr>
              <a:t>Known benign + severity ≤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350008"/>
            <a:ext cx="11430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50" b="1">
                <a:solidFill>
                  <a:srgbClr val="4CAF7D"/>
                </a:solidFill>
                <a:latin typeface="Aptos"/>
              </a:rPr>
              <a:t>→ False Positive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2990088"/>
            <a:ext cx="5440680" cy="621792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25312" y="3099816"/>
            <a:ext cx="379476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EFF4F9"/>
                </a:solidFill>
                <a:latin typeface="Aptos"/>
              </a:rPr>
              <a:t>Single source + severity ≤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099816"/>
            <a:ext cx="11430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50" b="1">
                <a:solidFill>
                  <a:srgbClr val="4CAF7D"/>
                </a:solidFill>
                <a:latin typeface="Aptos"/>
              </a:rPr>
              <a:t>→ False Positive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3739896"/>
            <a:ext cx="5440680" cy="621792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25312" y="3849624"/>
            <a:ext cx="379476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EFF4F9"/>
                </a:solidFill>
                <a:latin typeface="Aptos"/>
              </a:rPr>
              <a:t>Single source + severity ≤ 5 + no known-bad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849624"/>
            <a:ext cx="11430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50" b="1">
                <a:solidFill>
                  <a:srgbClr val="E8A33D"/>
                </a:solidFill>
                <a:latin typeface="Aptos"/>
              </a:rPr>
              <a:t>→ False Positive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4489704"/>
            <a:ext cx="5440680" cy="621792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25312" y="4599432"/>
            <a:ext cx="379476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EFF4F9"/>
                </a:solidFill>
                <a:latin typeface="Aptos"/>
              </a:rPr>
              <a:t>Otherwise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4599432"/>
            <a:ext cx="11430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50" b="1">
                <a:solidFill>
                  <a:srgbClr val="D9534F"/>
                </a:solidFill>
                <a:latin typeface="Aptos"/>
              </a:rPr>
              <a:t>→ Genuine Threat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5349240"/>
            <a:ext cx="5440680" cy="640080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25312" y="5477256"/>
            <a:ext cx="498348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97A6B7"/>
                </a:solidFill>
                <a:latin typeface="Aptos"/>
              </a:rPr>
              <a:t>Correlation window: 120 minutes · shared asset OR indicator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97A6B7"/>
                </a:solidFill>
                <a:latin typeface="Aptos"/>
              </a:rPr>
              <a:t>D2 · Threat Intelligence Correlation &amp; Alert Prioritisation Assistant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97A6B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04 · THREAT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EFF4F9"/>
                </a:solidFill>
                <a:latin typeface="Aptos"/>
              </a:rPr>
              <a:t>MITRE ATT&amp;CK + cross-domain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8813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97A6B7"/>
                </a:solidFill>
                <a:latin typeface="Aptos"/>
              </a:rPr>
              <a:t>The prototype maps alert language to known attacker techniques and keeps EW-specific events explicit.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"/>
            <a:ext cx="502920" cy="41148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D8FD6"/>
                </a:solidFill>
                <a:latin typeface="Aptos"/>
              </a:rPr>
              <a:t>CYBER TECHNIQUES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233172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075688"/>
            <a:ext cx="8412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A33D"/>
                </a:solidFill>
                <a:latin typeface="Aptos"/>
              </a:rPr>
              <a:t>T1059.001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75688"/>
            <a:ext cx="12344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EFF4F9"/>
                </a:solidFill>
                <a:latin typeface="Aptos"/>
              </a:rPr>
              <a:t>PowerShell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93392"/>
            <a:ext cx="233172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1" y="2075688"/>
            <a:ext cx="8412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A33D"/>
                </a:solidFill>
                <a:latin typeface="Aptos"/>
              </a:rPr>
              <a:t>T1566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075688"/>
            <a:ext cx="12344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EFF4F9"/>
                </a:solidFill>
                <a:latin typeface="Aptos"/>
              </a:rPr>
              <a:t>Phishing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60904"/>
            <a:ext cx="233172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743200"/>
            <a:ext cx="8412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A33D"/>
                </a:solidFill>
                <a:latin typeface="Aptos"/>
              </a:rPr>
              <a:t>T1071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743200"/>
            <a:ext cx="12344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EFF4F9"/>
                </a:solidFill>
                <a:latin typeface="Aptos"/>
              </a:rPr>
              <a:t>C2 / App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660904"/>
            <a:ext cx="233172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1" y="2743200"/>
            <a:ext cx="8412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A33D"/>
                </a:solidFill>
                <a:latin typeface="Aptos"/>
              </a:rPr>
              <a:t>T1110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2743200"/>
            <a:ext cx="12344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EFF4F9"/>
                </a:solidFill>
                <a:latin typeface="Aptos"/>
              </a:rPr>
              <a:t>Brute 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28416"/>
            <a:ext cx="233172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410712"/>
            <a:ext cx="8412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A33D"/>
                </a:solidFill>
                <a:latin typeface="Aptos"/>
              </a:rPr>
              <a:t>T1021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410712"/>
            <a:ext cx="12344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EFF4F9"/>
                </a:solidFill>
                <a:latin typeface="Aptos"/>
              </a:rPr>
              <a:t>Remote 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3328416"/>
            <a:ext cx="233172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64991" y="3410712"/>
            <a:ext cx="8412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A33D"/>
                </a:solidFill>
                <a:latin typeface="Aptos"/>
              </a:rPr>
              <a:t>T1486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8" y="3410712"/>
            <a:ext cx="12344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EFF4F9"/>
                </a:solidFill>
                <a:latin typeface="Aptos"/>
              </a:rPr>
              <a:t>Data Encrypted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95928"/>
            <a:ext cx="233172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078224"/>
            <a:ext cx="8412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A33D"/>
                </a:solidFill>
                <a:latin typeface="Aptos"/>
              </a:rPr>
              <a:t>T1595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078224"/>
            <a:ext cx="12344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EFF4F9"/>
                </a:solidFill>
                <a:latin typeface="Aptos"/>
              </a:rPr>
              <a:t>Active Scanning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3995928"/>
            <a:ext cx="233172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64991" y="4078224"/>
            <a:ext cx="8412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A33D"/>
                </a:solidFill>
                <a:latin typeface="Aptos"/>
              </a:rPr>
              <a:t>T1078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4078224"/>
            <a:ext cx="12344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EFF4F9"/>
                </a:solidFill>
                <a:latin typeface="Aptos"/>
              </a:rPr>
              <a:t>Valid Accounts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600200"/>
            <a:ext cx="5029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CBED2"/>
                </a:solidFill>
                <a:latin typeface="Aptos"/>
              </a:rPr>
              <a:t>EW / SATELLITE EVENTS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1993392"/>
            <a:ext cx="489204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2075688"/>
            <a:ext cx="9144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CBED2"/>
                </a:solidFill>
                <a:latin typeface="Aptos"/>
              </a:rPr>
              <a:t>EW-NAV-1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075688"/>
            <a:ext cx="34290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EFF4F9"/>
                </a:solidFill>
                <a:latin typeface="Aptos"/>
              </a:rPr>
              <a:t>Navigation Spoofing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2660904"/>
            <a:ext cx="489204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2743200"/>
            <a:ext cx="9144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CBED2"/>
                </a:solidFill>
                <a:latin typeface="Aptos"/>
              </a:rPr>
              <a:t>EW-JAM-1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2743200"/>
            <a:ext cx="34290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EFF4F9"/>
                </a:solidFill>
                <a:latin typeface="Aptos"/>
              </a:rPr>
              <a:t>RF Jamming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3328416"/>
            <a:ext cx="4892040" cy="47548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3410712"/>
            <a:ext cx="9144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CBED2"/>
                </a:solidFill>
                <a:latin typeface="Aptos"/>
              </a:rPr>
              <a:t>EW-SAT-1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410712"/>
            <a:ext cx="34290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EFF4F9"/>
                </a:solidFill>
                <a:latin typeface="Aptos"/>
              </a:rPr>
              <a:t>Satellite Command Anomaly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0760" y="4251960"/>
            <a:ext cx="4892040" cy="1325880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4480560"/>
            <a:ext cx="43891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4D8FD6"/>
                </a:solidFill>
                <a:latin typeface="Aptos"/>
              </a:rPr>
              <a:t>WHY THIS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828032"/>
            <a:ext cx="4280146" cy="5909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20" b="0" dirty="0">
                <a:solidFill>
                  <a:srgbClr val="97A6B7"/>
                </a:solidFill>
                <a:latin typeface="Aptos"/>
              </a:rPr>
              <a:t>Analysts see both the original evidence and a common technique</a:t>
            </a:r>
            <a:endParaRPr lang="en-US" sz="112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120" b="0" dirty="0">
                <a:solidFill>
                  <a:srgbClr val="97A6B7"/>
                </a:solidFill>
                <a:latin typeface="Aptos"/>
              </a:rPr>
              <a:t> language — while non-Enterprise EW events are not misrepresented</a:t>
            </a:r>
            <a:endParaRPr lang="en-US" sz="112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120" b="0" dirty="0">
                <a:solidFill>
                  <a:srgbClr val="97A6B7"/>
                </a:solidFill>
                <a:latin typeface="Aptos"/>
              </a:rPr>
              <a:t> as official ATT&amp;CK IDs.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074920"/>
            <a:ext cx="4892040" cy="685800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" y="5239512"/>
            <a:ext cx="4305794" cy="4062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80" b="0" dirty="0">
                <a:solidFill>
                  <a:srgbClr val="97A6B7"/>
                </a:solidFill>
                <a:latin typeface="Aptos"/>
              </a:rPr>
              <a:t>Mapping is currently a local keyword table — lightweight, deterministic </a:t>
            </a:r>
            <a:endParaRPr lang="en-US" sz="108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080" b="0" dirty="0">
                <a:solidFill>
                  <a:srgbClr val="97A6B7"/>
                </a:solidFill>
                <a:latin typeface="Aptos"/>
              </a:rPr>
              <a:t>and demo-friendly.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97A6B7"/>
                </a:solidFill>
                <a:latin typeface="Aptos"/>
              </a:rPr>
              <a:t>D2 · Threat Intelligence Correlation &amp; Alert Prioritisation 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97A6B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05 · COMMANDER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EFF4F9"/>
                </a:solidFill>
                <a:latin typeface="Aptos"/>
              </a:rPr>
              <a:t>Dashboard built for triage, not data dumping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8813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97A6B7"/>
                </a:solidFill>
                <a:latin typeface="Aptos"/>
              </a:rPr>
              <a:t>The interface mirrors the operational workflow: queue on the left, decision-ready incident brief on the right.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"/>
            <a:ext cx="502920" cy="41148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927080" cy="4526280"/>
          </a:xfrm>
          <a:prstGeom prst="roundRect">
            <a:avLst/>
          </a:prstGeom>
          <a:solidFill>
            <a:srgbClr val="060A10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927080" cy="56692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42062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EFF4F9"/>
                </a:solidFill>
                <a:latin typeface="Aptos"/>
              </a:rPr>
              <a:t>D2 · Threat Correlation &amp; BLUF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673352"/>
            <a:ext cx="1234440" cy="310896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1673352"/>
            <a:ext cx="123444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CRITICAL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240280"/>
            <a:ext cx="2971800" cy="358444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2441448"/>
            <a:ext cx="749808" cy="310896"/>
          </a:xfrm>
          <a:prstGeom prst="round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41448"/>
            <a:ext cx="74980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2441448"/>
            <a:ext cx="868680" cy="310896"/>
          </a:xfrm>
          <a:prstGeom prst="round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7360" y="2441448"/>
            <a:ext cx="86868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GENUINE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9192" y="2441448"/>
            <a:ext cx="841248" cy="310896"/>
          </a:xfrm>
          <a:prstGeom prst="roundRect">
            <a:avLst/>
          </a:prstGeom>
          <a:solidFill>
            <a:srgbClr val="525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9192" y="2441448"/>
            <a:ext cx="84124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FALSE POS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907792"/>
            <a:ext cx="2633472" cy="585216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2999232"/>
            <a:ext cx="1810512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60" b="1">
                <a:solidFill>
                  <a:srgbClr val="EFF4F9"/>
                </a:solidFill>
                <a:latin typeface="Aptos"/>
              </a:rPr>
              <a:t>C2 Beacon — WKS-1187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3026664"/>
            <a:ext cx="438912" cy="310896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3026664"/>
            <a:ext cx="438912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99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602736"/>
            <a:ext cx="2633472" cy="585216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694176"/>
            <a:ext cx="1810512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60" b="1">
                <a:solidFill>
                  <a:srgbClr val="EFF4F9"/>
                </a:solidFill>
                <a:latin typeface="Aptos"/>
              </a:rPr>
              <a:t>Brute Force — DC-02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721608"/>
            <a:ext cx="438912" cy="310896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71800" y="3721608"/>
            <a:ext cx="438912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297680"/>
            <a:ext cx="2633472" cy="585216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4389120"/>
            <a:ext cx="1810512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60" b="1">
                <a:solidFill>
                  <a:srgbClr val="EFF4F9"/>
                </a:solidFill>
                <a:latin typeface="Aptos"/>
              </a:rPr>
              <a:t>Signal Anomaly — SAT-ORION-4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4416552"/>
            <a:ext cx="438912" cy="310896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71800" y="4416552"/>
            <a:ext cx="438912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68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992624"/>
            <a:ext cx="2633472" cy="585216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5084064"/>
            <a:ext cx="1810512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60" b="1">
                <a:solidFill>
                  <a:srgbClr val="EFF4F9"/>
                </a:solidFill>
                <a:latin typeface="Aptos"/>
              </a:rPr>
              <a:t>Port Scan — WKS-0044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5111496"/>
            <a:ext cx="438912" cy="310896"/>
          </a:xfrm>
          <a:prstGeom prst="round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71800" y="5111496"/>
            <a:ext cx="438912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FP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3632" y="2240280"/>
            <a:ext cx="7452360" cy="3584448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87952" y="2468880"/>
            <a:ext cx="521208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FF4F9"/>
                </a:solidFill>
                <a:latin typeface="Aptos"/>
              </a:rPr>
              <a:t>CRITICAL · C2 Beacon — WKS-1187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468880"/>
            <a:ext cx="7772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50" b="1">
                <a:solidFill>
                  <a:srgbClr val="D9534F"/>
                </a:solidFill>
                <a:latin typeface="Aptos"/>
              </a:rPr>
              <a:t>99 / 100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87952" y="2907792"/>
            <a:ext cx="6903720" cy="676656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70832" y="3035808"/>
            <a:ext cx="6537960" cy="3931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20" b="1">
                <a:solidFill>
                  <a:srgbClr val="EFF4F9"/>
                </a:solidFill>
                <a:latin typeface="Aptos"/>
              </a:rPr>
              <a:t>BLUF  |  Multi-source corroboration indicates a genuine threat affecting WKS-1187.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3767328"/>
            <a:ext cx="14630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KEY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2" y="4096512"/>
            <a:ext cx="653796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97A6B7"/>
                </a:solidFill>
                <a:latin typeface="Aptos"/>
              </a:rPr>
              <a:t>SIEM: repeated C2 beacon  ·  CyberSensor: DNS tunneling  ·  Intel: known-bad indicator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87952" y="4818888"/>
            <a:ext cx="1645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ATT&amp;CK / 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87952" y="5148072"/>
            <a:ext cx="1115568" cy="310896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87952" y="5148072"/>
            <a:ext cx="111556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T1071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13248" y="5148072"/>
            <a:ext cx="1417320" cy="310896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13248" y="5148072"/>
            <a:ext cx="141732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T1071.004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9440" y="5148072"/>
            <a:ext cx="1115568" cy="310896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0" y="5148072"/>
            <a:ext cx="1115568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T1068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97A6B7"/>
                </a:solidFill>
                <a:latin typeface="Aptos"/>
              </a:rPr>
              <a:t>D2 · Threat Intelligence Correlation &amp; Alert Prioritisation Assistant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97A6B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06 · DEMO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EFF4F9"/>
                </a:solidFill>
                <a:latin typeface="Aptos"/>
              </a:rPr>
              <a:t>What the supplied prototype already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8813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97A6B7"/>
                </a:solidFill>
                <a:latin typeface="Aptos"/>
              </a:rPr>
              <a:t>The attached sample feed and browser UI show genuine-vs-false-positive triage in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"/>
            <a:ext cx="502920" cy="41148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423160" cy="86868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19072"/>
            <a:ext cx="566928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4D8FD6"/>
                </a:solidFill>
                <a:latin typeface="Apto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792224"/>
            <a:ext cx="1417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97A6B7"/>
                </a:solidFill>
                <a:latin typeface="Aptos"/>
              </a:rPr>
              <a:t>sample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00200"/>
            <a:ext cx="2423160" cy="86868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1719072"/>
            <a:ext cx="566928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792224"/>
            <a:ext cx="1417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97A6B7"/>
                </a:solidFill>
                <a:latin typeface="Aptos"/>
              </a:rPr>
              <a:t>genuine threats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2423160" cy="86868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1719072"/>
            <a:ext cx="566928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4CAF7D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792224"/>
            <a:ext cx="1417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97A6B7"/>
                </a:solidFill>
                <a:latin typeface="Aptos"/>
              </a:rPr>
              <a:t>filtered / FP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600200"/>
            <a:ext cx="2423160" cy="86868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1719072"/>
            <a:ext cx="566928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4CBED2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19" y="1792224"/>
            <a:ext cx="1417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97A6B7"/>
                </a:solidFill>
                <a:latin typeface="Aptos"/>
              </a:rPr>
              <a:t>external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43200"/>
            <a:ext cx="10927080" cy="251460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53512"/>
            <a:ext cx="16459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97A6B7"/>
                </a:solidFill>
                <a:latin typeface="Aptos"/>
              </a:rPr>
              <a:t>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953512"/>
            <a:ext cx="16459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97A6B7"/>
                </a:solidFill>
                <a:latin typeface="Aptos"/>
              </a:rPr>
              <a:t>SOURCE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53512"/>
            <a:ext cx="16459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97A6B7"/>
                </a:solidFill>
                <a:latin typeface="Aptos"/>
              </a:rPr>
              <a:t>PROTO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953512"/>
            <a:ext cx="16459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97A6B7"/>
                </a:solidFill>
                <a:latin typeface="Aptos"/>
              </a:rPr>
              <a:t>SEVERITY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953512"/>
            <a:ext cx="16459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97A6B7"/>
                </a:solidFill>
                <a:latin typeface="Aptos"/>
              </a:rPr>
              <a:t>SYSTEM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37560"/>
            <a:ext cx="10972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EFF4F9"/>
                </a:solidFill>
                <a:latin typeface="Aptos"/>
              </a:rPr>
              <a:t>ALT-001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337560"/>
            <a:ext cx="2423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192.168.1.50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37560"/>
            <a:ext cx="7315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TCP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337560"/>
            <a:ext cx="8229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EFF4F9"/>
                </a:solidFill>
                <a:latin typeface="Aptos"/>
              </a:rPr>
              <a:t>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337560"/>
            <a:ext cx="37947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4CAF7D"/>
                </a:solidFill>
                <a:latin typeface="Aptos"/>
              </a:rPr>
              <a:t>FILTERED · FALSE POSITIVE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" y="3685032"/>
            <a:ext cx="10241280" cy="9144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10972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EFF4F9"/>
                </a:solidFill>
                <a:latin typeface="Aptos"/>
              </a:rPr>
              <a:t>ALT-002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21608"/>
            <a:ext cx="2423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45.33.22.11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21608"/>
            <a:ext cx="7315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UDP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721608"/>
            <a:ext cx="8229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EFF4F9"/>
                </a:solidFill>
                <a:latin typeface="Aptos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721608"/>
            <a:ext cx="37947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4CAF7D"/>
                </a:solidFill>
                <a:latin typeface="Aptos"/>
              </a:rPr>
              <a:t>FILTERED · FALSE POSITIVE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" y="4069080"/>
            <a:ext cx="10241280" cy="9144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105656"/>
            <a:ext cx="10972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EFF4F9"/>
                </a:solidFill>
                <a:latin typeface="Aptos"/>
              </a:rPr>
              <a:t>ALT-003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105656"/>
            <a:ext cx="2423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185.15.59.222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105656"/>
            <a:ext cx="7315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TCP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105656"/>
            <a:ext cx="8229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EFF4F9"/>
                </a:solidFill>
                <a:latin typeface="Aptos"/>
              </a:rPr>
              <a:t>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105656"/>
            <a:ext cx="37947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D9534F"/>
                </a:solidFill>
                <a:latin typeface="Aptos"/>
              </a:rPr>
              <a:t>GENUINE THREAT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" y="4453128"/>
            <a:ext cx="10241280" cy="9144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4489704"/>
            <a:ext cx="10972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EFF4F9"/>
                </a:solidFill>
                <a:latin typeface="Aptos"/>
              </a:rPr>
              <a:t>ALT-004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489704"/>
            <a:ext cx="2423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127.0.0.1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315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TCP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489704"/>
            <a:ext cx="8229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EFF4F9"/>
                </a:solidFill>
                <a:latin typeface="Aptos"/>
              </a:rPr>
              <a:t>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9704"/>
            <a:ext cx="37947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4CAF7D"/>
                </a:solidFill>
                <a:latin typeface="Aptos"/>
              </a:rPr>
              <a:t>FILTERED · FALSE POSITIVE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" y="4837176"/>
            <a:ext cx="10241280" cy="9144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" y="4873752"/>
            <a:ext cx="10972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EFF4F9"/>
                </a:solidFill>
                <a:latin typeface="Aptos"/>
              </a:rPr>
              <a:t>ALT-005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4873752"/>
            <a:ext cx="2423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8.8.8.8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873752"/>
            <a:ext cx="7315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0">
                <a:solidFill>
                  <a:srgbClr val="97A6B7"/>
                </a:solidFill>
                <a:latin typeface="Aptos"/>
              </a:rPr>
              <a:t>UDP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4873752"/>
            <a:ext cx="8229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EFF4F9"/>
                </a:solidFill>
                <a:latin typeface="Aptos"/>
              </a:rPr>
              <a:t>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873752"/>
            <a:ext cx="37947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19" b="1">
                <a:solidFill>
                  <a:srgbClr val="D9534F"/>
                </a:solidFill>
                <a:latin typeface="Aptos"/>
              </a:rPr>
              <a:t>GENUINE THREAT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" y="5221224"/>
            <a:ext cx="10241280" cy="9144"/>
          </a:xfrm>
          <a:prstGeom prst="rect">
            <a:avLst/>
          </a:prstGeom>
          <a:solidFill>
            <a:srgbClr val="2A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40080" y="5532120"/>
            <a:ext cx="10927080" cy="621792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1248" y="5660136"/>
            <a:ext cx="104698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80" b="0">
                <a:solidFill>
                  <a:srgbClr val="EFF4F9"/>
                </a:solidFill>
                <a:latin typeface="Aptos"/>
              </a:rPr>
              <a:t>Demo message: the UI makes the decision visible — evidence stays inspectable, while low-value noise is kept out of the commander’s attention.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97A6B7"/>
                </a:solidFill>
                <a:latin typeface="Aptos"/>
              </a:rPr>
              <a:t>D2 · Threat Intelligence Correlation &amp; Alert Prioritisation Assistant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97A6B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4D8FD6"/>
                </a:solidFill>
                <a:latin typeface="Aptos"/>
              </a:rPr>
              <a:t>07 · 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EFF4F9"/>
                </a:solidFill>
                <a:latin typeface="Aptos"/>
              </a:rPr>
              <a:t>Why this is a strong foundation for a BOB-powered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8813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97A6B7"/>
                </a:solidFill>
                <a:latin typeface="Aptos"/>
              </a:rPr>
              <a:t>The current prototype proves the analyst workflow; the next step is connecting it to enterprise intelligence and AI enrichment.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"/>
            <a:ext cx="502920" cy="41148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29000" cy="141732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50292" cy="1417320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30632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01 · Reduce alert fatigue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48840"/>
            <a:ext cx="3050450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97A6B7"/>
                </a:solidFill>
                <a:latin typeface="Aptos"/>
              </a:rPr>
              <a:t>Correlate repeated signals into incidents and</a:t>
            </a:r>
            <a:endParaRPr lang="en-US" sz="120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97A6B7"/>
                </a:solidFill>
                <a:latin typeface="Aptos"/>
              </a:rPr>
              <a:t> suppress low-value isolated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82112"/>
            <a:ext cx="3429000" cy="141732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182112"/>
            <a:ext cx="50292" cy="14173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346704"/>
            <a:ext cx="30632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02 · Accelerate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730752"/>
            <a:ext cx="2765950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97A6B7"/>
                </a:solidFill>
                <a:latin typeface="Aptos"/>
              </a:rPr>
              <a:t>Priority score + evidence + BLUF puts the</a:t>
            </a:r>
            <a:endParaRPr lang="en-US" sz="120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97A6B7"/>
                </a:solidFill>
                <a:latin typeface="Aptos"/>
              </a:rPr>
              <a:t> bottom line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64024"/>
            <a:ext cx="3429000" cy="960120"/>
          </a:xfrm>
          <a:prstGeom prst="roundRect">
            <a:avLst/>
          </a:prstGeom>
          <a:solidFill>
            <a:srgbClr val="121B28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764024"/>
            <a:ext cx="50292" cy="96012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4928616"/>
            <a:ext cx="30632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EFF4F9"/>
                </a:solidFill>
                <a:latin typeface="Aptos"/>
              </a:rPr>
              <a:t>03 · Keep decisions explainable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312664"/>
            <a:ext cx="2720425" cy="4278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Rules, evidence and technique mappings </a:t>
            </a:r>
            <a:endParaRPr lang="en-US" sz="1150" b="0" dirty="0">
              <a:solidFill>
                <a:srgbClr val="97A6B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97A6B7"/>
                </a:solidFill>
                <a:latin typeface="Aptos"/>
              </a:rPr>
              <a:t>are visible to the analyst.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600200"/>
            <a:ext cx="64008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4D8FD6"/>
                </a:solidFill>
                <a:latin typeface="Aptos"/>
              </a:rPr>
              <a:t>ROADMAP → PRODUCTION / BOB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1993392"/>
            <a:ext cx="685800" cy="310896"/>
          </a:xfrm>
          <a:prstGeom prst="round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1993392"/>
            <a:ext cx="68580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1984248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EFF4F9"/>
                </a:solidFill>
                <a:latin typeface="Aptos"/>
              </a:rPr>
              <a:t>Browser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1984248"/>
            <a:ext cx="37947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30" b="0">
                <a:solidFill>
                  <a:srgbClr val="97A6B7"/>
                </a:solidFill>
                <a:latin typeface="Aptos"/>
              </a:rPr>
              <a:t>Local sample feed · rule-based correlation · BLUF template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2816352"/>
            <a:ext cx="685800" cy="310896"/>
          </a:xfrm>
          <a:prstGeom prst="roundRect">
            <a:avLst/>
          </a:prstGeom>
          <a:solidFill>
            <a:srgbClr val="4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2816352"/>
            <a:ext cx="68580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807208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EFF4F9"/>
                </a:solidFill>
                <a:latin typeface="Aptos"/>
              </a:rPr>
              <a:t>BOB / AI enrichment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807208"/>
            <a:ext cx="37947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30" b="0">
                <a:solidFill>
                  <a:srgbClr val="97A6B7"/>
                </a:solidFill>
                <a:latin typeface="Aptos"/>
              </a:rPr>
              <a:t>Natural-language threat assessment · richer cross-source reasoning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3639312"/>
            <a:ext cx="685800" cy="310896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2272" y="3639312"/>
            <a:ext cx="68580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THEN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3630168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EFF4F9"/>
                </a:solidFill>
                <a:latin typeface="Aptos"/>
              </a:rPr>
              <a:t>Real feeds +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630168"/>
            <a:ext cx="37947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30" b="0">
                <a:solidFill>
                  <a:srgbClr val="97A6B7"/>
                </a:solidFill>
                <a:latin typeface="Aptos"/>
              </a:rPr>
              <a:t>SIEM / satellite / intel connectors · database · audit trail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2272" y="4462272"/>
            <a:ext cx="685800" cy="310896"/>
          </a:xfrm>
          <a:prstGeom prst="round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4462272"/>
            <a:ext cx="68580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EFF4F9"/>
                </a:solidFill>
                <a:latin typeface="Aptos"/>
              </a:rP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8" y="4453128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EFF4F9"/>
                </a:solidFill>
                <a:latin typeface="Aptos"/>
              </a:rPr>
              <a:t>Operational SOC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4453128"/>
            <a:ext cx="37947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30" b="0">
                <a:solidFill>
                  <a:srgbClr val="97A6B7"/>
                </a:solidFill>
                <a:latin typeface="Aptos"/>
              </a:rPr>
              <a:t>Role-based workflows · feedback loop · model/rule tuning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5413248"/>
            <a:ext cx="6720840" cy="713232"/>
          </a:xfrm>
          <a:prstGeom prst="roundRect">
            <a:avLst/>
          </a:prstGeom>
          <a:solidFill>
            <a:srgbClr val="182333"/>
          </a:solidFill>
          <a:ln>
            <a:solidFill>
              <a:srgbClr val="2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45152" y="5550408"/>
            <a:ext cx="6569234" cy="397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 dirty="0">
                <a:solidFill>
                  <a:srgbClr val="E8A33D"/>
                </a:solidFill>
                <a:latin typeface="Aptos"/>
              </a:rPr>
              <a:t>Current limitation: the supplied build is not yet connected to a real SIEM, satellite feed or external service. </a:t>
            </a:r>
            <a:endParaRPr lang="en-US" sz="1050" b="1" dirty="0">
              <a:solidFill>
                <a:srgbClr val="E8A33D"/>
              </a:solidFill>
              <a:latin typeface="Aptos"/>
            </a:endParaRPr>
          </a:p>
          <a:p>
            <a:pPr algn="l"/>
            <a:r>
              <a:rPr sz="1050" b="1" dirty="0">
                <a:solidFill>
                  <a:srgbClr val="E8A33D"/>
                </a:solidFill>
                <a:latin typeface="Aptos"/>
              </a:rPr>
              <a:t>That integration is the next engineering layer.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50" b="0">
                <a:solidFill>
                  <a:srgbClr val="97A6B7"/>
                </a:solidFill>
                <a:latin typeface="Aptos"/>
              </a:rPr>
              <a:t>D2 · Threat Intelligence Correlation &amp; Alert Prioritisation Assistant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50" b="1">
                <a:solidFill>
                  <a:srgbClr val="97A6B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patel krisha</cp:lastModifiedBy>
  <cp:revision>3</cp:revision>
  <dcterms:created xsi:type="dcterms:W3CDTF">2013-01-27T09:14:16Z</dcterms:created>
  <dcterms:modified xsi:type="dcterms:W3CDTF">2026-09-15T08:22:09Z</dcterms:modified>
  <cp:category/>
</cp:coreProperties>
</file>